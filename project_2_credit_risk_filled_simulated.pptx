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2" r:id="rId1"/>
  </p:sldMasterIdLst>
  <p:notesMasterIdLst>
    <p:notesMasterId r:id="rId14"/>
  </p:notesMasterIdLst>
  <p:handoutMasterIdLst>
    <p:handoutMasterId r:id="rId15"/>
  </p:handoutMasterIdLst>
  <p:sldIdLst>
    <p:sldId id="353" r:id="rId2"/>
    <p:sldId id="359" r:id="rId3"/>
    <p:sldId id="360" r:id="rId4"/>
    <p:sldId id="361" r:id="rId5"/>
    <p:sldId id="370" r:id="rId6"/>
    <p:sldId id="371" r:id="rId7"/>
    <p:sldId id="372" r:id="rId8"/>
    <p:sldId id="373" r:id="rId9"/>
    <p:sldId id="369" r:id="rId10"/>
    <p:sldId id="374" r:id="rId11"/>
    <p:sldId id="362" r:id="rId12"/>
    <p:sldId id="36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rlos Manuel Milheiro de Oliveira Pinto Soares" initials="CMMdOPS" lastIdx="14" clrIdx="0">
    <p:extLst>
      <p:ext uri="{19B8F6BF-5375-455C-9EA6-DF929625EA0E}">
        <p15:presenceInfo xmlns:p15="http://schemas.microsoft.com/office/powerpoint/2012/main" userId="ad9450a8-fb89-4aff-9c31-a91c81ef7610" providerId="Windows Live"/>
      </p:ext>
    </p:extLst>
  </p:cmAuthor>
  <p:cmAuthor id="2" name="Carlos Manuel Milheiro de Oliveira Pinto Soares" initials="CMMdOPS [2]" lastIdx="12" clrIdx="1">
    <p:extLst>
      <p:ext uri="{19B8F6BF-5375-455C-9EA6-DF929625EA0E}">
        <p15:presenceInfo xmlns:p15="http://schemas.microsoft.com/office/powerpoint/2012/main" userId="S::csoares@pbs.up.pt::ad9450a8-fb89-4aff-9c31-a91c81ef7610" providerId="AD"/>
      </p:ext>
    </p:extLst>
  </p:cmAuthor>
  <p:cmAuthor id="3" name="Carlos Soares" initials="CS" lastIdx="7" clrIdx="2">
    <p:extLst>
      <p:ext uri="{19B8F6BF-5375-455C-9EA6-DF929625EA0E}">
        <p15:presenceInfo xmlns:p15="http://schemas.microsoft.com/office/powerpoint/2012/main" userId="S::up235847@up.pt::58cfb87a-9ada-478d-b2aa-47c3b05f2ec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12" autoAdjust="0"/>
    <p:restoredTop sz="93630" autoAdjust="0"/>
  </p:normalViewPr>
  <p:slideViewPr>
    <p:cSldViewPr snapToGrid="0" snapToObjects="1">
      <p:cViewPr>
        <p:scale>
          <a:sx n="100" d="100"/>
          <a:sy n="100" d="100"/>
        </p:scale>
        <p:origin x="924" y="-71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2132BA-7F90-C045-AC3C-D088D737BC85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F13E1-8011-274F-A832-B81829A48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4415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24605C-FF3E-654F-890C-85C3E6C4269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DA452D-C759-EA45-A61C-6757CDAD7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67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DA452D-C759-EA45-A61C-6757CDAD729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8901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A452D-C759-EA45-A61C-6757CDAD729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164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28131"/>
            <a:ext cx="7772400" cy="1470025"/>
          </a:xfrm>
        </p:spPr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184386"/>
            <a:ext cx="7772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133600" cy="365125"/>
          </a:xfrm>
        </p:spPr>
        <p:txBody>
          <a:bodyPr/>
          <a:lstStyle/>
          <a:p>
            <a:fld id="{11E87A6F-16E5-2444-8E01-52483A43058D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87560" y="6492875"/>
            <a:ext cx="4188543" cy="365125"/>
          </a:xfrm>
        </p:spPr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03026" y="6492875"/>
            <a:ext cx="2133600" cy="365125"/>
          </a:xfrm>
        </p:spPr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logo_UP_FEUP_monocromátic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85953"/>
            <a:ext cx="2015644" cy="6646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89148CA-9598-5A4A-A7FC-FEA6BD71DD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9902" b="15599"/>
          <a:stretch/>
        </p:blipFill>
        <p:spPr>
          <a:xfrm>
            <a:off x="6019800" y="116855"/>
            <a:ext cx="2502310" cy="100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500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28131"/>
            <a:ext cx="7772400" cy="1470025"/>
          </a:xfrm>
        </p:spPr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1843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ABE37-C354-7843-8D1B-82AD8732054D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logo_UP_FEUP_monocromátic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5350364"/>
            <a:ext cx="2027668" cy="66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595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Click</a:t>
            </a:r>
            <a:r>
              <a:rPr lang="pt-PT" dirty="0"/>
              <a:t> to </a:t>
            </a:r>
            <a:r>
              <a:rPr lang="pt-PT" dirty="0" err="1"/>
              <a:t>edit</a:t>
            </a:r>
            <a:r>
              <a:rPr lang="pt-PT" dirty="0"/>
              <a:t> </a:t>
            </a:r>
            <a:r>
              <a:rPr lang="pt-PT" dirty="0" err="1"/>
              <a:t>Master</a:t>
            </a:r>
            <a:r>
              <a:rPr lang="pt-PT" dirty="0"/>
              <a:t> </a:t>
            </a:r>
            <a:r>
              <a:rPr lang="pt-PT" dirty="0" err="1"/>
              <a:t>title</a:t>
            </a:r>
            <a:r>
              <a:rPr lang="pt-PT" dirty="0"/>
              <a:t> </a:t>
            </a:r>
            <a:r>
              <a:rPr lang="pt-PT" dirty="0" err="1"/>
              <a:t>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8EF8-12EF-244B-8AD9-ADF3AF7DF6B1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3F4CE35-700E-D24D-BFFE-3A46495E0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87560" y="6492875"/>
            <a:ext cx="4188543" cy="365125"/>
          </a:xfrm>
        </p:spPr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444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E1FB-A965-7646-B21B-EA92A716BFB6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960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562DD-2E3D-1046-8925-14B387B4EBE4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23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B5E3E-DB9A-D44E-A77E-F04CA3810003}" type="datetime1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907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50069CF2-EEBE-B943-855E-E4B9D86DC9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D3CC3B-8D39-4F4D-BF99-FB2D3A1E3AF3}" type="datetime1">
              <a:rPr lang="en-US" smtClean="0"/>
              <a:t>5/20/2026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1244B59-E2B5-444D-B4DC-4AC3B4C849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49909" y="6492875"/>
            <a:ext cx="44638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92CFB25-9124-B443-9B84-19A867D02B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38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A6A1B-DA9C-F04B-AB4D-14C78B78D751}" type="datetime1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721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CD2A-FE21-F941-9181-60477F37902D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642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8DD4D-0F64-554F-821E-A588CA7F0791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607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3654A-3E1B-1642-984F-D85157AAB59A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0422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649C1-9FF8-D641-9274-7E16A33349D5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4797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údo geral">
  <p:cSld name="1_Conteúdo geral">
    <p:bg>
      <p:bgPr>
        <a:blipFill>
          <a:blip r:embed="rId2">
            <a:alphaModFix amt="15000"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/>
        </p:nvSpPr>
        <p:spPr>
          <a:xfrm>
            <a:off x="1417599" y="6335713"/>
            <a:ext cx="181018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9E9E9E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1350"/>
          </a:p>
        </p:txBody>
      </p:sp>
      <p:sp>
        <p:nvSpPr>
          <p:cNvPr id="19" name="Google Shape;19;p12"/>
          <p:cNvSpPr txBox="1">
            <a:spLocks noGrp="1"/>
          </p:cNvSpPr>
          <p:nvPr>
            <p:ph type="title"/>
          </p:nvPr>
        </p:nvSpPr>
        <p:spPr>
          <a:xfrm>
            <a:off x="251222" y="53744"/>
            <a:ext cx="6427012" cy="85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erdana"/>
              <a:buNone/>
              <a:defRPr sz="1800" b="1" i="0" u="none" strike="noStrike" cap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body" idx="1"/>
          </p:nvPr>
        </p:nvSpPr>
        <p:spPr>
          <a:xfrm>
            <a:off x="250924" y="1052736"/>
            <a:ext cx="8641556" cy="5124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marR="0" lvl="0" indent="-171450" algn="l" rtl="0">
              <a:lnSpc>
                <a:spcPct val="100000"/>
              </a:lnSpc>
              <a:spcBef>
                <a:spcPts val="451"/>
              </a:spcBef>
              <a:spcAft>
                <a:spcPts val="0"/>
              </a:spcAft>
              <a:buClr>
                <a:srgbClr val="373E47"/>
              </a:buClr>
              <a:buSzPts val="2400"/>
              <a:buFont typeface="Arial"/>
              <a:buNone/>
              <a:defRPr sz="1800" b="0" i="0" u="none" strike="noStrike" cap="none">
                <a:solidFill>
                  <a:srgbClr val="373E47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685800" marR="0" lvl="1" indent="-276225" algn="l" rtl="0">
              <a:lnSpc>
                <a:spcPct val="100000"/>
              </a:lnSpc>
              <a:spcBef>
                <a:spcPts val="451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▪"/>
              <a:defRPr sz="1500" b="0" i="0" u="none" strike="noStrike" cap="none">
                <a:solidFill>
                  <a:srgbClr val="373E47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028700" marR="0" lvl="2" indent="-257175" algn="l" rtl="0">
              <a:lnSpc>
                <a:spcPct val="100000"/>
              </a:lnSpc>
              <a:spcBef>
                <a:spcPts val="451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Char char="▪"/>
              <a:defRPr sz="1350" b="0" i="0" u="none" strike="noStrike" cap="none">
                <a:solidFill>
                  <a:srgbClr val="373E47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371600" marR="0" lvl="3" indent="-247650" algn="l" rtl="0">
              <a:lnSpc>
                <a:spcPct val="100000"/>
              </a:lnSpc>
              <a:spcBef>
                <a:spcPts val="451"/>
              </a:spcBef>
              <a:spcAft>
                <a:spcPts val="0"/>
              </a:spcAft>
              <a:buClr>
                <a:srgbClr val="FF6600"/>
              </a:buClr>
              <a:buSzPts val="1600"/>
              <a:buFont typeface="Noto Sans Symbols"/>
              <a:buChar char="▪"/>
              <a:defRPr sz="1200" b="0" i="0" u="none" strike="noStrike" cap="none">
                <a:solidFill>
                  <a:srgbClr val="373E47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1714500" marR="0" lvl="4" indent="-247650" algn="l" rtl="0">
              <a:lnSpc>
                <a:spcPct val="100000"/>
              </a:lnSpc>
              <a:spcBef>
                <a:spcPts val="451"/>
              </a:spcBef>
              <a:spcAft>
                <a:spcPts val="0"/>
              </a:spcAft>
              <a:buClr>
                <a:srgbClr val="FF6600"/>
              </a:buClr>
              <a:buSzPts val="1600"/>
              <a:buFont typeface="Noto Sans Symbols"/>
              <a:buChar char="▪"/>
              <a:defRPr sz="1200" b="0" i="0" u="none" strike="noStrike" cap="none">
                <a:solidFill>
                  <a:srgbClr val="373E47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057400" marR="0" lvl="5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2400300" marR="0" lvl="6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2743200" marR="0" lvl="7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3086100" marR="0" lvl="8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008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572">
          <p15:clr>
            <a:srgbClr val="FBAE40"/>
          </p15:clr>
        </p15:guide>
        <p15:guide id="4" pos="6335">
          <p15:clr>
            <a:srgbClr val="FBAE40"/>
          </p15:clr>
        </p15:guide>
        <p15:guide id="5" pos="7469">
          <p15:clr>
            <a:srgbClr val="FBAE40"/>
          </p15:clr>
        </p15:guide>
        <p15:guide id="6" pos="211">
          <p15:clr>
            <a:srgbClr val="FBAE40"/>
          </p15:clr>
        </p15:guide>
        <p15:guide id="7" orient="horz" pos="28">
          <p15:clr>
            <a:srgbClr val="FBAE40"/>
          </p15:clr>
        </p15:guide>
        <p15:guide id="8" orient="horz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2870"/>
            <a:ext cx="6940861" cy="1278217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AA085-F8B6-C74F-A545-7650ED705A4F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9909" y="6492875"/>
            <a:ext cx="44638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 descr="logo_UP_FEUP_monocromático.png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861" y="293957"/>
            <a:ext cx="2239233" cy="7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24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4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5" r:id="rId13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kaggle.com/datasets/laotse/credit-risk-dataset/data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938213"/>
            <a:ext cx="7772400" cy="1859944"/>
          </a:xfrm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lang="en-US" sz="3600" dirty="0"/>
              <a:t>Credit Risk Prediction</a:t>
            </a:r>
            <a:br>
              <a:rPr lang="en-US" sz="2800" dirty="0"/>
            </a:br>
            <a:r>
              <a:rPr lang="en-US" sz="2200" dirty="0"/>
              <a:t>Machine Learning model for loan default risk assessment</a:t>
            </a:r>
            <a:br>
              <a:rPr lang="en-US" sz="2200" dirty="0"/>
            </a:br>
            <a:br>
              <a:rPr lang="en-US" sz="2800" dirty="0"/>
            </a:br>
            <a:r>
              <a:rPr lang="en-US" sz="1600" dirty="0"/>
              <a:t>Project 2 · IART · L.EIC · 2025/2026</a:t>
            </a:r>
            <a:endParaRPr sz="1600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C998A2E-7221-949A-7314-A1DDF81952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380256"/>
            <a:ext cx="6400800" cy="1752600"/>
          </a:xfrm>
        </p:spPr>
        <p:txBody>
          <a:bodyPr>
            <a:normAutofit/>
          </a:bodyPr>
          <a:lstStyle/>
          <a:p>
            <a:r>
              <a:rPr lang="pt-PT" sz="2400" dirty="0"/>
              <a:t>Gustavo Oliveira, up202205770</a:t>
            </a:r>
          </a:p>
          <a:p>
            <a:r>
              <a:rPr lang="pt-PT" sz="2400" dirty="0"/>
              <a:t>Hugo Silva, up202307610</a:t>
            </a:r>
          </a:p>
          <a:p>
            <a:r>
              <a:rPr lang="pt-PT" sz="2400" dirty="0"/>
              <a:t>João Sousa, up202304607</a:t>
            </a:r>
            <a:endParaRPr lang="en-PT" sz="2400" dirty="0"/>
          </a:p>
        </p:txBody>
      </p:sp>
    </p:spTree>
    <p:extLst>
      <p:ext uri="{BB962C8B-B14F-4D97-AF65-F5344CB8AC3E}">
        <p14:creationId xmlns:p14="http://schemas.microsoft.com/office/powerpoint/2010/main" val="1733574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970CE-FDEC-4E92-E8F6-A3D1A00C1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200"/>
              </a:spcAft>
            </a:pPr>
            <a:r>
              <a:rPr lang="pt-PT" sz="2500" dirty="0"/>
              <a:t>C</a:t>
            </a:r>
            <a:r>
              <a:rPr sz="2500" dirty="0" err="1"/>
              <a:t>ustomer</a:t>
            </a:r>
            <a:endParaRPr sz="2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CAAC2-B777-3DD2-AD48-C440F090F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63" y="1509715"/>
            <a:ext cx="8229600" cy="3233738"/>
          </a:xfrm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lang="en-US" sz="1400" i="1" dirty="0"/>
              <a:t>Simulated customer</a:t>
            </a:r>
            <a:r>
              <a:rPr lang="en-US" sz="1400" dirty="0"/>
              <a:t>: </a:t>
            </a:r>
            <a:r>
              <a:rPr lang="en-US" sz="1400" b="1" dirty="0"/>
              <a:t>Digital Bank </a:t>
            </a:r>
            <a:r>
              <a:rPr lang="en-US" sz="1400" dirty="0"/>
              <a:t>· Digital Bank is a fictional retail bank that offers personal loans to individual customers. The bank wants to improve how it identifies applications with a high probability of default.</a:t>
            </a:r>
          </a:p>
          <a:p>
            <a:pPr marL="0" indent="0">
              <a:spcAft>
                <a:spcPts val="200"/>
              </a:spcAft>
              <a:buNone/>
            </a:pPr>
            <a:endParaRPr lang="en-US" sz="1400" dirty="0"/>
          </a:p>
          <a:p>
            <a:pPr>
              <a:spcAft>
                <a:spcPts val="200"/>
              </a:spcAft>
            </a:pPr>
            <a:r>
              <a:rPr lang="en-US" sz="1400" i="1" dirty="0"/>
              <a:t>Simulated contact</a:t>
            </a:r>
            <a:r>
              <a:rPr lang="en-US" sz="1400" dirty="0"/>
              <a:t>: </a:t>
            </a:r>
            <a:r>
              <a:rPr lang="en-US" sz="1400" b="1" dirty="0"/>
              <a:t>João Silva </a:t>
            </a:r>
            <a:r>
              <a:rPr lang="en-US" sz="1400" dirty="0"/>
              <a:t>· </a:t>
            </a:r>
            <a:r>
              <a:rPr lang="en-US" sz="1400" b="1" dirty="0"/>
              <a:t>Loan Risk Analyst</a:t>
            </a:r>
          </a:p>
          <a:p>
            <a:pPr marL="0" indent="0">
              <a:spcAft>
                <a:spcPts val="200"/>
              </a:spcAft>
              <a:buNone/>
            </a:pPr>
            <a:endParaRPr lang="en-US" sz="1400" dirty="0"/>
          </a:p>
          <a:p>
            <a:pPr>
              <a:spcAft>
                <a:spcPts val="200"/>
              </a:spcAft>
            </a:pPr>
            <a:r>
              <a:rPr lang="en-US" sz="1400" i="1" dirty="0"/>
              <a:t>Role</a:t>
            </a:r>
            <a:r>
              <a:rPr lang="en-US" sz="1400" dirty="0"/>
              <a:t>: Responsible for reviewing loan applications, monitoring credit-risk indicators, and supporting approval decisions.</a:t>
            </a:r>
          </a:p>
          <a:p>
            <a:pPr>
              <a:spcAft>
                <a:spcPts val="200"/>
              </a:spcAft>
            </a:pPr>
            <a:endParaRPr lang="en-US" sz="1400" dirty="0"/>
          </a:p>
          <a:p>
            <a:pPr>
              <a:spcAft>
                <a:spcPts val="200"/>
              </a:spcAft>
            </a:pPr>
            <a:r>
              <a:rPr lang="en-US" sz="1400" i="1" dirty="0"/>
              <a:t>Note</a:t>
            </a:r>
            <a:r>
              <a:rPr lang="en-US" sz="1400" dirty="0"/>
              <a:t>: No real company was contacted; this customer profile was created to frame the project scenario and objectives.</a:t>
            </a:r>
            <a:endParaRPr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27DF1-2037-AB3E-9747-A728CE44D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9A950-FBEE-1B3C-AC4D-4DB713F8C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IART @ L.EIC</a:t>
            </a:r>
          </a:p>
        </p:txBody>
      </p:sp>
    </p:spTree>
    <p:extLst>
      <p:ext uri="{BB962C8B-B14F-4D97-AF65-F5344CB8AC3E}">
        <p14:creationId xmlns:p14="http://schemas.microsoft.com/office/powerpoint/2010/main" val="2989641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DCB54-7A9F-C7C6-433C-355A834E0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200"/>
              </a:spcAft>
            </a:pPr>
            <a:r>
              <a:rPr lang="pt-PT" sz="2500" dirty="0"/>
              <a:t>P</a:t>
            </a:r>
            <a:r>
              <a:rPr sz="2500" dirty="0" err="1"/>
              <a:t>roblem</a:t>
            </a:r>
            <a:endParaRPr sz="2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53A36-7E51-3C7C-9EE3-5B270D72C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lang="en-US" sz="1400" dirty="0"/>
              <a:t>Credit approval requires balancing opportunity and risk: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If the bank approves too many risky loans, defaults increase.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If it rejects too many safe applicants, it loses potential customers.</a:t>
            </a:r>
          </a:p>
          <a:p>
            <a:pPr>
              <a:spcAft>
                <a:spcPts val="200"/>
              </a:spcAft>
            </a:pPr>
            <a:endParaRPr lang="en-US" sz="1400" dirty="0"/>
          </a:p>
          <a:p>
            <a:pPr>
              <a:spcAft>
                <a:spcPts val="200"/>
              </a:spcAft>
            </a:pPr>
            <a:r>
              <a:rPr lang="en-US" sz="1400" dirty="0"/>
              <a:t>Current simulated approach: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fixed credit rules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manual analysis by loan analysts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limited consistency across borderline cases</a:t>
            </a:r>
          </a:p>
          <a:p>
            <a:pPr>
              <a:spcAft>
                <a:spcPts val="200"/>
              </a:spcAft>
            </a:pPr>
            <a:endParaRPr lang="en-US" sz="1400" dirty="0"/>
          </a:p>
          <a:p>
            <a:pPr>
              <a:spcAft>
                <a:spcPts val="200"/>
              </a:spcAft>
            </a:pPr>
            <a:r>
              <a:rPr lang="en-US" sz="1400" dirty="0"/>
              <a:t>Machine learning goal: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predict whether a loan applicant is likely to be high risk before the approval decision.</a:t>
            </a:r>
          </a:p>
          <a:p>
            <a:pPr marL="0" indent="0">
              <a:spcAft>
                <a:spcPts val="200"/>
              </a:spcAft>
              <a:buNone/>
            </a:pP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9A3059-B1BD-D3FB-B86A-3BA4E9FA0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7EF15-F82E-7BC4-F9C0-A0C866B1C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664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C9B77-200C-05A3-C3A2-3710962EE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200"/>
              </a:spcAft>
            </a:pPr>
            <a:r>
              <a:rPr lang="pt-PT" sz="2500" dirty="0"/>
              <a:t>A</a:t>
            </a:r>
            <a:r>
              <a:rPr sz="2500" dirty="0" err="1"/>
              <a:t>vailable</a:t>
            </a:r>
            <a:r>
              <a:rPr sz="2500" dirty="0"/>
              <a:t> </a:t>
            </a:r>
            <a:r>
              <a:rPr lang="pt-PT" sz="2500" dirty="0"/>
              <a:t>D</a:t>
            </a:r>
            <a:r>
              <a:rPr sz="2500" dirty="0" err="1"/>
              <a:t>ata</a:t>
            </a:r>
            <a:endParaRPr sz="2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4D6B1-3115-4035-E5FE-A1BE13B8B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4" y="1376362"/>
            <a:ext cx="8901113" cy="4953001"/>
          </a:xfrm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lang="en-US" sz="1400" dirty="0"/>
              <a:t>Digital Bank provided historical loan application records containing applicant, loan and credit-history information.</a:t>
            </a:r>
            <a:endParaRPr sz="1400" dirty="0"/>
          </a:p>
          <a:p>
            <a:pPr>
              <a:spcAft>
                <a:spcPts val="200"/>
              </a:spcAft>
            </a:pPr>
            <a:endParaRPr sz="1400" dirty="0"/>
          </a:p>
          <a:p>
            <a:pPr>
              <a:spcAft>
                <a:spcPts val="200"/>
              </a:spcAft>
            </a:pPr>
            <a:r>
              <a:rPr lang="en-US" sz="1400" i="1" dirty="0"/>
              <a:t>Dataset: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32,581 loan records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12 variables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28,632 records after cleaning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target: </a:t>
            </a:r>
            <a:r>
              <a:rPr lang="en-US" sz="1200" dirty="0" err="1"/>
              <a:t>loan_status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sz="1400" dirty="0"/>
          </a:p>
          <a:p>
            <a:pPr>
              <a:spcAft>
                <a:spcPts val="200"/>
              </a:spcAft>
            </a:pPr>
            <a:r>
              <a:rPr lang="en-US" sz="1400" i="1" dirty="0"/>
              <a:t>Attribute groups: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Applicant profile: age, income, employment length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Loan information: amount, intent, grade, interest rate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Credit history: previous default flag, credit history length</a:t>
            </a:r>
          </a:p>
          <a:p>
            <a:pPr marL="0" indent="0">
              <a:spcAft>
                <a:spcPts val="200"/>
              </a:spcAft>
              <a:buNone/>
            </a:pPr>
            <a:endParaRPr sz="1400" dirty="0"/>
          </a:p>
          <a:p>
            <a:pPr>
              <a:spcAft>
                <a:spcPts val="200"/>
              </a:spcAft>
            </a:pPr>
            <a:r>
              <a:rPr lang="en-US" sz="1400" i="1" dirty="0"/>
              <a:t>Target imbalance: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78.2% low risk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21.8% high risk / default</a:t>
            </a:r>
            <a:endParaRPr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F9FCA-61A8-ABA8-6F53-C41BCD1AC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14484-D6EC-2E5C-5551-962F7ABDB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E4E8D760-9347-B94A-AC5A-72F88D8BB565}"/>
              </a:ext>
            </a:extLst>
          </p:cNvPr>
          <p:cNvSpPr/>
          <p:nvPr/>
        </p:nvSpPr>
        <p:spPr>
          <a:xfrm>
            <a:off x="2611385" y="4981575"/>
            <a:ext cx="465190" cy="500063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D52C29-E750-F92F-3DA5-19659ACC6264}"/>
              </a:ext>
            </a:extLst>
          </p:cNvPr>
          <p:cNvSpPr txBox="1"/>
          <p:nvPr/>
        </p:nvSpPr>
        <p:spPr>
          <a:xfrm>
            <a:off x="2976561" y="4998093"/>
            <a:ext cx="5024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This imbalance motivated the creation of synthetic high-risk records to improve recall.</a:t>
            </a:r>
            <a:endParaRPr lang="pt-PT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DD0CB8-2C02-05DF-E5C9-B948A0B5F359}"/>
              </a:ext>
            </a:extLst>
          </p:cNvPr>
          <p:cNvSpPr txBox="1"/>
          <p:nvPr/>
        </p:nvSpPr>
        <p:spPr>
          <a:xfrm>
            <a:off x="466725" y="6231265"/>
            <a:ext cx="86772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Dataset source used to simulate company data: Kaggle Credit Risk Dataset - </a:t>
            </a:r>
            <a:r>
              <a:rPr lang="en-US" sz="1100" dirty="0">
                <a:hlinkClick r:id="rId2"/>
              </a:rPr>
              <a:t>https://www.kaggle.com/datasets/laotse/credit-risk-dataset/data</a:t>
            </a:r>
            <a:endParaRPr lang="pt-PT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F91CC8-0391-C039-2059-7CAC8F639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362" y="2169640"/>
            <a:ext cx="3914804" cy="224791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52529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2D650-9867-C2E6-3486-38C1DF666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200"/>
              </a:spcAft>
            </a:pPr>
            <a:r>
              <a:rPr lang="pt-PT" sz="2500" dirty="0"/>
              <a:t>S</a:t>
            </a:r>
            <a:r>
              <a:rPr sz="2500" dirty="0" err="1"/>
              <a:t>olution</a:t>
            </a:r>
            <a:r>
              <a:rPr sz="2500" dirty="0"/>
              <a:t> </a:t>
            </a:r>
            <a:r>
              <a:rPr lang="pt-PT" sz="2500" dirty="0"/>
              <a:t>O</a:t>
            </a:r>
            <a:r>
              <a:rPr sz="2500" dirty="0" err="1"/>
              <a:t>verview</a:t>
            </a:r>
            <a:endParaRPr sz="2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FD194-E657-3A6A-43C5-1BCD9E722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990" y="1378881"/>
            <a:ext cx="8229600" cy="956625"/>
          </a:xfrm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</a:pPr>
            <a:r>
              <a:rPr lang="en-US" sz="1400" dirty="0"/>
              <a:t>The proposed solution is a credit-risk decision support system for Digital Bank.</a:t>
            </a:r>
          </a:p>
          <a:p>
            <a:pPr>
              <a:spcAft>
                <a:spcPts val="200"/>
              </a:spcAft>
            </a:pPr>
            <a:r>
              <a:rPr lang="en-US" sz="1400" dirty="0"/>
              <a:t>The system uses historical loan data to train a machine learning model capable of predicting whether a new loan application is likely to become high risk.</a:t>
            </a:r>
          </a:p>
          <a:p>
            <a:pPr marL="0" indent="0">
              <a:spcAft>
                <a:spcPts val="200"/>
              </a:spcAft>
              <a:buNone/>
            </a:pP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766D3-9E2F-2E67-C082-FC0ACBEB2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9BFB8-9687-5073-75B7-B3FF1BFA5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IART @ L.EIC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B5B69B-FE27-BAD4-E81B-4AE7B6C54993}"/>
              </a:ext>
            </a:extLst>
          </p:cNvPr>
          <p:cNvSpPr txBox="1"/>
          <p:nvPr/>
        </p:nvSpPr>
        <p:spPr>
          <a:xfrm>
            <a:off x="665796" y="2786843"/>
            <a:ext cx="3180015" cy="2913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i="1" dirty="0"/>
              <a:t>Workflow:</a:t>
            </a:r>
          </a:p>
          <a:p>
            <a:pPr marL="742950" lvl="1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1. The analyst enters applicant and loan information.</a:t>
            </a:r>
          </a:p>
          <a:p>
            <a:pPr marL="742950" lvl="1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2. The system preprocesses the input data.</a:t>
            </a:r>
          </a:p>
          <a:p>
            <a:pPr marL="742950" lvl="1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3. The trained model predicts the applicant’s risk class.</a:t>
            </a:r>
          </a:p>
          <a:p>
            <a:pPr marL="742950" lvl="1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4. The analyst uses the prediction as support for the final decision.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i="1" dirty="0"/>
              <a:t>Output:</a:t>
            </a:r>
          </a:p>
          <a:p>
            <a:pPr marL="742950" lvl="1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low risk / no default expected</a:t>
            </a:r>
          </a:p>
          <a:p>
            <a:pPr marL="742950" lvl="1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high risk / possible default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0EF62E-F00F-4799-4829-4F778D445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735" y="2080494"/>
            <a:ext cx="4059469" cy="216315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BD54CC-F869-E8D5-CEAF-1E676B05E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735" y="4318114"/>
            <a:ext cx="4059469" cy="21002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5337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34356-5B8F-4558-EEB3-1C6959DB8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200"/>
              </a:spcAft>
            </a:pPr>
            <a:r>
              <a:rPr lang="pt-PT" sz="2500" dirty="0"/>
              <a:t>P</a:t>
            </a:r>
            <a:r>
              <a:rPr sz="2500" dirty="0" err="1"/>
              <a:t>redictive</a:t>
            </a:r>
            <a:r>
              <a:rPr sz="2500" dirty="0"/>
              <a:t> </a:t>
            </a:r>
            <a:r>
              <a:rPr lang="pt-PT" sz="2500" dirty="0"/>
              <a:t>M</a:t>
            </a:r>
            <a:r>
              <a:rPr sz="2500" dirty="0" err="1"/>
              <a:t>odel</a:t>
            </a:r>
            <a:endParaRPr sz="2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2A04B-D6C7-A5F6-EC51-5C4F06606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200"/>
              </a:spcAft>
            </a:pPr>
            <a:r>
              <a:rPr lang="en-US" sz="1400" dirty="0"/>
              <a:t>The predictive task was defined as supervised binary classification.</a:t>
            </a:r>
            <a:endParaRPr lang="pt-PT" sz="1400" dirty="0"/>
          </a:p>
          <a:p>
            <a:pPr lvl="2">
              <a:spcAft>
                <a:spcPts val="200"/>
              </a:spcAft>
            </a:pPr>
            <a:endParaRPr sz="1400" dirty="0"/>
          </a:p>
          <a:p>
            <a:pPr>
              <a:spcAft>
                <a:spcPts val="200"/>
              </a:spcAft>
            </a:pPr>
            <a:r>
              <a:rPr lang="en-US" sz="1400" dirty="0"/>
              <a:t>Training dataset: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real clean loan records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additional synthetic high-risk records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final training dataset balanced by </a:t>
            </a:r>
            <a:r>
              <a:rPr lang="en-US" sz="1200" dirty="0" err="1"/>
              <a:t>loan_status</a:t>
            </a:r>
            <a:endParaRPr sz="1400" dirty="0"/>
          </a:p>
          <a:p>
            <a:pPr>
              <a:spcAft>
                <a:spcPts val="200"/>
              </a:spcAft>
            </a:pPr>
            <a:r>
              <a:rPr lang="en-US" sz="1400" dirty="0"/>
              <a:t>Target - </a:t>
            </a:r>
            <a:r>
              <a:rPr lang="en-US" sz="1400" dirty="0" err="1"/>
              <a:t>loan_status</a:t>
            </a:r>
            <a:r>
              <a:rPr lang="en-US" sz="1400" dirty="0"/>
              <a:t>: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0 = low risk / no default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1 = high risk / default</a:t>
            </a:r>
            <a:endParaRPr lang="pt-PT" sz="1200" dirty="0"/>
          </a:p>
          <a:p>
            <a:pPr>
              <a:spcAft>
                <a:spcPts val="200"/>
              </a:spcAft>
            </a:pPr>
            <a:r>
              <a:rPr lang="en-US" sz="1400" dirty="0"/>
              <a:t>Input features: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applicant profile: age, income, employment length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loan characteristics: amount, intent, grade, interest rate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credit indicators: previous default flag, credit history length</a:t>
            </a:r>
            <a:endParaRPr lang="pt-PT" sz="1200" dirty="0"/>
          </a:p>
          <a:p>
            <a:pPr>
              <a:spcAft>
                <a:spcPts val="200"/>
              </a:spcAft>
            </a:pPr>
            <a:r>
              <a:rPr lang="en-US" sz="1400" dirty="0"/>
              <a:t>Models compared: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Logistic Regression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Decision Tree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Random Forest</a:t>
            </a:r>
            <a:endParaRPr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09459-8901-5DAB-D626-C5D2A119E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78D78-9BA9-58F2-1DD2-E5AA90B2E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184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5A6EA-5FEA-9B03-3BF6-6E775FD20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200"/>
              </a:spcAft>
            </a:pPr>
            <a:r>
              <a:rPr lang="pt-PT" sz="2500" dirty="0"/>
              <a:t>E</a:t>
            </a:r>
            <a:r>
              <a:rPr sz="2500" dirty="0" err="1"/>
              <a:t>mpirical</a:t>
            </a:r>
            <a:r>
              <a:rPr sz="2500" dirty="0"/>
              <a:t> </a:t>
            </a:r>
            <a:r>
              <a:rPr lang="pt-PT" sz="2500" dirty="0"/>
              <a:t>S</a:t>
            </a:r>
            <a:r>
              <a:rPr sz="2500" dirty="0" err="1"/>
              <a:t>tudy</a:t>
            </a:r>
            <a:r>
              <a:rPr sz="2500" dirty="0"/>
              <a:t>: </a:t>
            </a:r>
            <a:r>
              <a:rPr lang="pt-PT" sz="2500" dirty="0"/>
              <a:t>S</a:t>
            </a:r>
            <a:r>
              <a:rPr sz="2500" dirty="0" err="1"/>
              <a:t>etup</a:t>
            </a:r>
            <a:endParaRPr sz="2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4A4F5-6F7E-54A8-1CAD-FF23811E0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496" y="1467700"/>
            <a:ext cx="8471304" cy="4658464"/>
          </a:xfrm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</a:pPr>
            <a:r>
              <a:rPr lang="en-US" sz="1400" dirty="0"/>
              <a:t>We compared models using a controlled training and evaluation pipeline, with class balancing through synthetic augmentation.</a:t>
            </a:r>
            <a:endParaRPr lang="pt-PT" sz="1400" dirty="0"/>
          </a:p>
          <a:p>
            <a:pPr>
              <a:spcAft>
                <a:spcPts val="200"/>
              </a:spcAft>
            </a:pPr>
            <a:endParaRPr lang="en-US" sz="1400" dirty="0"/>
          </a:p>
          <a:p>
            <a:pPr>
              <a:spcAft>
                <a:spcPts val="200"/>
              </a:spcAft>
            </a:pPr>
            <a:r>
              <a:rPr lang="en-US" sz="1400" i="1" dirty="0"/>
              <a:t>Data preparation: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missing values removed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categorical variables encoded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stratified train-test split</a:t>
            </a:r>
          </a:p>
          <a:p>
            <a:pPr marL="0" indent="0">
              <a:spcAft>
                <a:spcPts val="200"/>
              </a:spcAft>
              <a:buNone/>
            </a:pPr>
            <a:endParaRPr lang="en-US" sz="1400" i="1" dirty="0"/>
          </a:p>
          <a:p>
            <a:pPr marL="0" indent="0">
              <a:spcAft>
                <a:spcPts val="200"/>
              </a:spcAft>
              <a:buNone/>
            </a:pPr>
            <a:endParaRPr lang="en-US" sz="1400" i="1" dirty="0"/>
          </a:p>
          <a:p>
            <a:pPr>
              <a:spcAft>
                <a:spcPts val="200"/>
              </a:spcAft>
            </a:pPr>
            <a:r>
              <a:rPr lang="en-US" sz="1400" i="1" dirty="0"/>
              <a:t>Class balancing: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original data: 78.2% low risk / 21.8% high risk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synthetic high-risk records generated from the minority class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augmented training dataset created</a:t>
            </a:r>
          </a:p>
          <a:p>
            <a:pPr marL="457200" lvl="1" indent="0">
              <a:spcAft>
                <a:spcPts val="200"/>
              </a:spcAft>
              <a:buNone/>
            </a:pPr>
            <a:endParaRPr lang="pt-PT" sz="1400" dirty="0"/>
          </a:p>
          <a:p>
            <a:pPr marL="457200" lvl="1" indent="0">
              <a:spcAft>
                <a:spcPts val="200"/>
              </a:spcAft>
              <a:buNone/>
            </a:pPr>
            <a:endParaRPr sz="1400" dirty="0"/>
          </a:p>
          <a:p>
            <a:pPr>
              <a:spcAft>
                <a:spcPts val="200"/>
              </a:spcAft>
            </a:pPr>
            <a:r>
              <a:rPr lang="pt-PT" sz="1400" i="1" dirty="0" err="1"/>
              <a:t>Models</a:t>
            </a:r>
            <a:r>
              <a:rPr lang="pt-PT" sz="1400" i="1" dirty="0"/>
              <a:t>:</a:t>
            </a:r>
          </a:p>
          <a:p>
            <a:pPr lvl="1">
              <a:spcAft>
                <a:spcPts val="200"/>
              </a:spcAft>
            </a:pPr>
            <a:r>
              <a:rPr lang="pt-PT" sz="1200" dirty="0" err="1"/>
              <a:t>Logistic</a:t>
            </a:r>
            <a:r>
              <a:rPr lang="pt-PT" sz="1200" dirty="0"/>
              <a:t> </a:t>
            </a:r>
            <a:r>
              <a:rPr lang="pt-PT" sz="1200" dirty="0" err="1"/>
              <a:t>Regression</a:t>
            </a:r>
            <a:endParaRPr lang="pt-PT" sz="1200" dirty="0"/>
          </a:p>
          <a:p>
            <a:pPr lvl="1">
              <a:spcAft>
                <a:spcPts val="200"/>
              </a:spcAft>
            </a:pPr>
            <a:r>
              <a:rPr lang="pt-PT" sz="1200" dirty="0" err="1"/>
              <a:t>Decision</a:t>
            </a:r>
            <a:r>
              <a:rPr lang="pt-PT" sz="1200" dirty="0"/>
              <a:t> </a:t>
            </a:r>
            <a:r>
              <a:rPr lang="pt-PT" sz="1200" dirty="0" err="1"/>
              <a:t>Tree</a:t>
            </a:r>
            <a:endParaRPr lang="pt-PT" sz="1200" dirty="0"/>
          </a:p>
          <a:p>
            <a:pPr lvl="1">
              <a:spcAft>
                <a:spcPts val="200"/>
              </a:spcAft>
            </a:pPr>
            <a:r>
              <a:rPr lang="pt-PT" sz="1200" dirty="0" err="1"/>
              <a:t>Random</a:t>
            </a:r>
            <a:r>
              <a:rPr lang="pt-PT" sz="1200" dirty="0"/>
              <a:t> </a:t>
            </a:r>
            <a:r>
              <a:rPr lang="pt-PT" sz="1200" dirty="0" err="1"/>
              <a:t>Forest</a:t>
            </a:r>
            <a:endParaRPr lang="pt-PT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EA042-7F16-250D-904E-0D495DF72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93020-01B6-6FA8-4274-2473F91F0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66A8BA8A-C01D-C01A-9D78-0925E66EAC5A}"/>
              </a:ext>
            </a:extLst>
          </p:cNvPr>
          <p:cNvSpPr/>
          <p:nvPr/>
        </p:nvSpPr>
        <p:spPr>
          <a:xfrm>
            <a:off x="2609185" y="5809456"/>
            <a:ext cx="465190" cy="500063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F0001F-6703-1DDF-7285-281451552889}"/>
              </a:ext>
            </a:extLst>
          </p:cNvPr>
          <p:cNvSpPr txBox="1"/>
          <p:nvPr/>
        </p:nvSpPr>
        <p:spPr>
          <a:xfrm>
            <a:off x="3154338" y="5899693"/>
            <a:ext cx="4379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 err="1"/>
              <a:t>hyperparameter</a:t>
            </a:r>
            <a:r>
              <a:rPr lang="pt-PT" sz="1400" dirty="0"/>
              <a:t> </a:t>
            </a:r>
            <a:r>
              <a:rPr lang="pt-PT" sz="1400" dirty="0" err="1"/>
              <a:t>tuning</a:t>
            </a:r>
            <a:r>
              <a:rPr lang="pt-PT" sz="1400" dirty="0"/>
              <a:t> </a:t>
            </a:r>
            <a:r>
              <a:rPr lang="pt-PT" sz="1400" dirty="0" err="1"/>
              <a:t>with</a:t>
            </a:r>
            <a:r>
              <a:rPr lang="pt-PT" sz="1400" dirty="0"/>
              <a:t> </a:t>
            </a:r>
            <a:r>
              <a:rPr lang="pt-PT" sz="1400" dirty="0" err="1"/>
              <a:t>GridSearchCV</a:t>
            </a:r>
            <a:endParaRPr lang="pt-PT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E2E627-99BD-C30C-B9B3-89C4D817C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0195" y="1865830"/>
            <a:ext cx="3057547" cy="189548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EF4D4E-8DC1-C221-61BF-2176394A0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707" y="3941417"/>
            <a:ext cx="3028972" cy="17716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57539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3F027-2243-4835-CC56-74F42BA70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8F023-90AF-93E8-0628-980DA4C82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200"/>
              </a:spcAft>
            </a:pPr>
            <a:r>
              <a:rPr lang="pt-PT" sz="2500" dirty="0"/>
              <a:t>E</a:t>
            </a:r>
            <a:r>
              <a:rPr sz="2500" dirty="0" err="1"/>
              <a:t>mpirical</a:t>
            </a:r>
            <a:r>
              <a:rPr sz="2500" dirty="0"/>
              <a:t> </a:t>
            </a:r>
            <a:r>
              <a:rPr lang="pt-PT" sz="2500" dirty="0"/>
              <a:t>S</a:t>
            </a:r>
            <a:r>
              <a:rPr sz="2500" dirty="0" err="1"/>
              <a:t>tudy</a:t>
            </a:r>
            <a:r>
              <a:rPr sz="2500" dirty="0"/>
              <a:t>: </a:t>
            </a:r>
            <a:r>
              <a:rPr lang="pt-PT" sz="2500" dirty="0"/>
              <a:t>R</a:t>
            </a:r>
            <a:r>
              <a:rPr sz="2500" dirty="0" err="1"/>
              <a:t>esults</a:t>
            </a:r>
            <a:endParaRPr sz="2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AF63F-74CA-62FE-EEA3-52F343F8D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4" y="1378880"/>
            <a:ext cx="8229600" cy="4525963"/>
          </a:xfrm>
        </p:spPr>
        <p:txBody>
          <a:bodyPr wrap="square"/>
          <a:lstStyle/>
          <a:p>
            <a:pPr algn="just">
              <a:spcAft>
                <a:spcPts val="200"/>
              </a:spcAft>
            </a:pPr>
            <a:r>
              <a:rPr lang="en-US" sz="1400" dirty="0"/>
              <a:t>Random Forest achieved the best balance between detecting high-risk loans and avoiding excessive false positives.</a:t>
            </a:r>
            <a:endParaRPr lang="pt-PT" sz="1400" dirty="0"/>
          </a:p>
          <a:p>
            <a:pPr marL="0" indent="0">
              <a:spcAft>
                <a:spcPts val="200"/>
              </a:spcAft>
              <a:buNone/>
            </a:pPr>
            <a:endParaRPr lang="pt-PT" sz="1400" dirty="0"/>
          </a:p>
          <a:p>
            <a:pPr marL="0" indent="0">
              <a:spcAft>
                <a:spcPts val="200"/>
              </a:spcAft>
              <a:buNone/>
            </a:pPr>
            <a:endParaRPr sz="1400" dirty="0"/>
          </a:p>
          <a:p>
            <a:pPr>
              <a:spcAft>
                <a:spcPts val="200"/>
              </a:spcAft>
            </a:pPr>
            <a:r>
              <a:rPr lang="en-US" sz="1400" i="1" dirty="0"/>
              <a:t>Evaluation setup: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models trained with an augmented training set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synthetic rows were used only during training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final metrics were computed on real test records</a:t>
            </a:r>
          </a:p>
          <a:p>
            <a:pPr>
              <a:spcAft>
                <a:spcPts val="200"/>
              </a:spcAft>
            </a:pPr>
            <a:endParaRPr lang="en-US" sz="1400" i="1" dirty="0"/>
          </a:p>
          <a:p>
            <a:pPr>
              <a:spcAft>
                <a:spcPts val="200"/>
              </a:spcAft>
            </a:pPr>
            <a:r>
              <a:rPr lang="en-US" sz="1400" i="1" dirty="0"/>
              <a:t>Why Random Forest?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highest F1-score: 0.7615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highest ROC-AUC: 0.9270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strong recall for high-risk loans: 0.7897</a:t>
            </a:r>
          </a:p>
          <a:p>
            <a:pPr lvl="1">
              <a:spcAft>
                <a:spcPts val="200"/>
              </a:spcAft>
            </a:pPr>
            <a:r>
              <a:rPr lang="en-US" sz="1200" dirty="0"/>
              <a:t>better balance than Logistic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47D20-CB05-C73F-9F63-E8C4D7083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B9EAB-B341-E2BE-FB7B-C03748A46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525A5A-844F-EFA8-56D0-66816723E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3755" y="1869285"/>
            <a:ext cx="5000487" cy="413335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77764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DED63-CEF5-934E-640B-EE9478E86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200"/>
              </a:spcAft>
            </a:pPr>
            <a:r>
              <a:rPr lang="pt-PT" sz="2500" dirty="0"/>
              <a:t>S</a:t>
            </a:r>
            <a:r>
              <a:rPr sz="2500" dirty="0" err="1"/>
              <a:t>takeholders</a:t>
            </a:r>
            <a:endParaRPr sz="2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68144-933A-0D11-A18B-41E15D149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122" y="1600200"/>
            <a:ext cx="8229600" cy="4525963"/>
          </a:xfrm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lang="en-US" sz="1600" dirty="0"/>
              <a:t>The solution would involve several stakeholders inside and outside Digital Bank.</a:t>
            </a:r>
          </a:p>
          <a:p>
            <a:pPr>
              <a:spcAft>
                <a:spcPts val="200"/>
              </a:spcAft>
            </a:pPr>
            <a:endParaRPr lang="en-US" sz="1600" dirty="0"/>
          </a:p>
          <a:p>
            <a:pPr>
              <a:spcAft>
                <a:spcPts val="200"/>
              </a:spcAft>
            </a:pPr>
            <a:r>
              <a:rPr lang="en-US" sz="1600" i="1" dirty="0"/>
              <a:t>Main stakeholders:</a:t>
            </a:r>
          </a:p>
          <a:p>
            <a:pPr lvl="1">
              <a:spcAft>
                <a:spcPts val="200"/>
              </a:spcAft>
            </a:pPr>
            <a:r>
              <a:rPr lang="en-US" sz="1400" b="1" dirty="0"/>
              <a:t>Loan analysts</a:t>
            </a:r>
            <a:r>
              <a:rPr lang="en-US" sz="1400" dirty="0"/>
              <a:t>: use the model output as decision support.</a:t>
            </a:r>
          </a:p>
          <a:p>
            <a:pPr lvl="1">
              <a:spcAft>
                <a:spcPts val="200"/>
              </a:spcAft>
            </a:pPr>
            <a:r>
              <a:rPr lang="en-US" sz="1400" b="1" dirty="0"/>
              <a:t>Risk managers</a:t>
            </a:r>
            <a:r>
              <a:rPr lang="en-US" sz="1400" dirty="0"/>
              <a:t>: define acceptable risk thresholds and monitor portfolio risk.</a:t>
            </a:r>
          </a:p>
          <a:p>
            <a:pPr lvl="1">
              <a:spcAft>
                <a:spcPts val="200"/>
              </a:spcAft>
            </a:pPr>
            <a:r>
              <a:rPr lang="en-US" sz="1400" b="1" dirty="0"/>
              <a:t>Data scientists</a:t>
            </a:r>
            <a:r>
              <a:rPr lang="en-US" sz="1400" dirty="0"/>
              <a:t>: train, validate and monitor model performance.</a:t>
            </a:r>
          </a:p>
          <a:p>
            <a:pPr lvl="1">
              <a:spcAft>
                <a:spcPts val="200"/>
              </a:spcAft>
            </a:pPr>
            <a:r>
              <a:rPr lang="en-US" sz="1400" b="1" dirty="0"/>
              <a:t>IT team</a:t>
            </a:r>
            <a:r>
              <a:rPr lang="en-US" sz="1400" dirty="0"/>
              <a:t>: integrate the model into internal banking systems.</a:t>
            </a:r>
          </a:p>
          <a:p>
            <a:pPr lvl="1">
              <a:spcAft>
                <a:spcPts val="200"/>
              </a:spcAft>
            </a:pPr>
            <a:r>
              <a:rPr lang="en-US" sz="1400" b="1" dirty="0"/>
              <a:t>Compliance/legal team</a:t>
            </a:r>
            <a:r>
              <a:rPr lang="en-US" sz="1400" dirty="0"/>
              <a:t>: ensure privacy, fairness and regulatory alignment.</a:t>
            </a:r>
          </a:p>
          <a:p>
            <a:pPr lvl="1">
              <a:spcAft>
                <a:spcPts val="200"/>
              </a:spcAft>
            </a:pPr>
            <a:r>
              <a:rPr lang="en-US" sz="1400" b="1" dirty="0"/>
              <a:t>Customers</a:t>
            </a:r>
            <a:r>
              <a:rPr lang="en-US" sz="1400" dirty="0"/>
              <a:t>: are directly affected by loan approval decisions.</a:t>
            </a:r>
          </a:p>
          <a:p>
            <a:pPr>
              <a:spcAft>
                <a:spcPts val="200"/>
              </a:spcAft>
            </a:pPr>
            <a:endParaRPr lang="en-US" sz="1400" dirty="0"/>
          </a:p>
          <a:p>
            <a:pPr>
              <a:spcAft>
                <a:spcPts val="200"/>
              </a:spcAft>
            </a:pPr>
            <a:r>
              <a:rPr lang="en-US" sz="1600" dirty="0"/>
              <a:t>Successful deployment requires collaboration between technical teams, business decision-makers and compliance stakeholders.</a:t>
            </a:r>
            <a:endParaRPr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D6757-7584-CB42-EE07-01C8562F9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4C13E-6F0B-83CE-B798-6E50ECE22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405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982E4-7D46-ED0F-A0AD-AF17554EC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lang="pt-PT" sz="2500" dirty="0"/>
              <a:t>E</a:t>
            </a:r>
            <a:r>
              <a:rPr sz="2500" dirty="0" err="1"/>
              <a:t>xpected</a:t>
            </a:r>
            <a:r>
              <a:rPr sz="2500" dirty="0"/>
              <a:t> challenges during development and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ABCF5-7DDD-3EE1-903F-E3F2BFF40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endParaRPr lang="en-US" sz="1400" dirty="0"/>
          </a:p>
          <a:p>
            <a:pPr>
              <a:spcAft>
                <a:spcPts val="200"/>
              </a:spcAft>
            </a:pPr>
            <a:r>
              <a:rPr lang="en-US" sz="1600" i="1" dirty="0"/>
              <a:t>Technical challenges:</a:t>
            </a:r>
          </a:p>
          <a:p>
            <a:pPr lvl="1">
              <a:spcAft>
                <a:spcPts val="200"/>
              </a:spcAft>
            </a:pPr>
            <a:r>
              <a:rPr lang="en-US" sz="1400" b="1" dirty="0"/>
              <a:t>Data quality</a:t>
            </a:r>
            <a:r>
              <a:rPr lang="en-US" sz="1400" dirty="0"/>
              <a:t>: missing, outdated or inconsistent loan records.</a:t>
            </a:r>
          </a:p>
          <a:p>
            <a:pPr lvl="1">
              <a:spcAft>
                <a:spcPts val="200"/>
              </a:spcAft>
            </a:pPr>
            <a:r>
              <a:rPr lang="en-US" sz="1400" b="1" dirty="0"/>
              <a:t>Class imbalance</a:t>
            </a:r>
            <a:r>
              <a:rPr lang="en-US" sz="1400" dirty="0"/>
              <a:t>: high-risk cases are less frequent than low-risk cases.</a:t>
            </a:r>
          </a:p>
          <a:p>
            <a:pPr lvl="1">
              <a:spcAft>
                <a:spcPts val="200"/>
              </a:spcAft>
            </a:pPr>
            <a:r>
              <a:rPr lang="en-US" sz="1400" b="1" dirty="0"/>
              <a:t>Model drift</a:t>
            </a:r>
            <a:r>
              <a:rPr lang="en-US" sz="1400" dirty="0"/>
              <a:t>: risk patterns may change over time.</a:t>
            </a:r>
          </a:p>
          <a:p>
            <a:pPr lvl="1">
              <a:spcAft>
                <a:spcPts val="200"/>
              </a:spcAft>
            </a:pPr>
            <a:r>
              <a:rPr lang="en-US" sz="1400" b="1" dirty="0"/>
              <a:t>Threshold selection</a:t>
            </a:r>
            <a:r>
              <a:rPr lang="en-US" sz="1400" dirty="0"/>
              <a:t>: different thresholds change the balance between precision and recall.</a:t>
            </a:r>
          </a:p>
          <a:p>
            <a:pPr lvl="1">
              <a:spcAft>
                <a:spcPts val="200"/>
              </a:spcAft>
            </a:pPr>
            <a:r>
              <a:rPr lang="en-US" sz="1400" b="1" dirty="0"/>
              <a:t>Explainability</a:t>
            </a:r>
            <a:r>
              <a:rPr lang="en-US" sz="1400" dirty="0"/>
              <a:t>: analysts need to understand why a customer is classified as high risk.</a:t>
            </a:r>
          </a:p>
          <a:p>
            <a:pPr>
              <a:spcAft>
                <a:spcPts val="200"/>
              </a:spcAft>
            </a:pPr>
            <a:endParaRPr lang="en-US" sz="1400" i="1" dirty="0"/>
          </a:p>
          <a:p>
            <a:pPr>
              <a:spcAft>
                <a:spcPts val="200"/>
              </a:spcAft>
            </a:pPr>
            <a:r>
              <a:rPr lang="en-US" sz="1600" i="1" dirty="0"/>
              <a:t>Organizational challenges:</a:t>
            </a:r>
          </a:p>
          <a:p>
            <a:pPr lvl="1">
              <a:spcAft>
                <a:spcPts val="200"/>
              </a:spcAft>
            </a:pPr>
            <a:r>
              <a:rPr lang="en-US" sz="1400" dirty="0"/>
              <a:t>Analyst trust in model recommendations.</a:t>
            </a:r>
          </a:p>
          <a:p>
            <a:pPr lvl="1">
              <a:spcAft>
                <a:spcPts val="200"/>
              </a:spcAft>
            </a:pPr>
            <a:r>
              <a:rPr lang="en-US" sz="1400" dirty="0"/>
              <a:t>Integration with existing loan approval systems.</a:t>
            </a:r>
          </a:p>
          <a:p>
            <a:pPr lvl="1">
              <a:spcAft>
                <a:spcPts val="200"/>
              </a:spcAft>
            </a:pPr>
            <a:r>
              <a:rPr lang="en-US" sz="1400" dirty="0"/>
              <a:t>Defining who is responsible for the final decision.</a:t>
            </a:r>
          </a:p>
          <a:p>
            <a:pPr lvl="1">
              <a:spcAft>
                <a:spcPts val="200"/>
              </a:spcAft>
            </a:pPr>
            <a:r>
              <a:rPr lang="en-US" sz="1400" dirty="0"/>
              <a:t>Avoiding excessive dependence on automated predictions.</a:t>
            </a:r>
            <a:endParaRPr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49403-0050-F998-D870-75DABA10A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D84E8-7699-3009-67D9-328885C21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330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BFBCE-ED83-AC6F-BD51-40E4FD1B3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lang="pt-PT" sz="2500" dirty="0"/>
              <a:t>U</a:t>
            </a:r>
            <a:r>
              <a:rPr sz="2500" dirty="0" err="1"/>
              <a:t>navailable</a:t>
            </a:r>
            <a:r>
              <a:rPr sz="2500" dirty="0"/>
              <a:t> </a:t>
            </a:r>
            <a:r>
              <a:rPr lang="pt-PT" sz="2500" dirty="0"/>
              <a:t>D</a:t>
            </a:r>
            <a:r>
              <a:rPr sz="2500" dirty="0" err="1"/>
              <a:t>ata</a:t>
            </a:r>
            <a:endParaRPr sz="2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AE032-E937-8CC4-459D-17DECB994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lang="en-US" sz="1600" dirty="0"/>
              <a:t>The available dataset is sufficient to build a predictive baseline, but it does not capture the full financial profile of a customer.</a:t>
            </a:r>
          </a:p>
          <a:p>
            <a:pPr>
              <a:spcAft>
                <a:spcPts val="200"/>
              </a:spcAft>
            </a:pPr>
            <a:endParaRPr lang="en-US" sz="1600" dirty="0"/>
          </a:p>
          <a:p>
            <a:pPr>
              <a:spcAft>
                <a:spcPts val="200"/>
              </a:spcAft>
            </a:pPr>
            <a:r>
              <a:rPr lang="en-US" sz="1600" i="1" dirty="0"/>
              <a:t>Missing information that could improve performance:</a:t>
            </a:r>
          </a:p>
          <a:p>
            <a:pPr lvl="1">
              <a:spcAft>
                <a:spcPts val="200"/>
              </a:spcAft>
            </a:pPr>
            <a:r>
              <a:rPr lang="en-US" sz="1400" dirty="0"/>
              <a:t>repayment history and late payments</a:t>
            </a:r>
          </a:p>
          <a:p>
            <a:pPr lvl="1">
              <a:spcAft>
                <a:spcPts val="200"/>
              </a:spcAft>
            </a:pPr>
            <a:r>
              <a:rPr lang="en-US" sz="1400" dirty="0"/>
              <a:t>debt-to-income ratio</a:t>
            </a:r>
          </a:p>
          <a:p>
            <a:pPr lvl="1">
              <a:spcAft>
                <a:spcPts val="200"/>
              </a:spcAft>
            </a:pPr>
            <a:r>
              <a:rPr lang="en-US" sz="1400" dirty="0"/>
              <a:t>monthly expenses and disposable income</a:t>
            </a:r>
          </a:p>
          <a:p>
            <a:pPr lvl="1">
              <a:spcAft>
                <a:spcPts val="200"/>
              </a:spcAft>
            </a:pPr>
            <a:r>
              <a:rPr lang="en-US" sz="1400" dirty="0"/>
              <a:t>number of active credit accounts</a:t>
            </a:r>
          </a:p>
          <a:p>
            <a:pPr lvl="1">
              <a:spcAft>
                <a:spcPts val="200"/>
              </a:spcAft>
            </a:pPr>
            <a:r>
              <a:rPr lang="en-US" sz="1400" dirty="0"/>
              <a:t>income stability over time</a:t>
            </a:r>
          </a:p>
          <a:p>
            <a:pPr lvl="1">
              <a:spcAft>
                <a:spcPts val="200"/>
              </a:spcAft>
            </a:pPr>
            <a:r>
              <a:rPr lang="en-US" sz="1400" dirty="0"/>
              <a:t>employment contract type</a:t>
            </a:r>
          </a:p>
          <a:p>
            <a:pPr lvl="1">
              <a:spcAft>
                <a:spcPts val="200"/>
              </a:spcAft>
            </a:pPr>
            <a:r>
              <a:rPr lang="en-US" sz="1400" dirty="0"/>
              <a:t>macroeconomic indicators</a:t>
            </a:r>
          </a:p>
          <a:p>
            <a:pPr>
              <a:spcAft>
                <a:spcPts val="200"/>
              </a:spcAft>
            </a:pPr>
            <a:endParaRPr lang="en-US" sz="1400" dirty="0"/>
          </a:p>
          <a:p>
            <a:pPr>
              <a:spcAft>
                <a:spcPts val="200"/>
              </a:spcAft>
            </a:pPr>
            <a:r>
              <a:rPr lang="en-US" sz="1600" i="1" dirty="0"/>
              <a:t>Main challenge:</a:t>
            </a:r>
          </a:p>
          <a:p>
            <a:pPr lvl="1">
              <a:spcAft>
                <a:spcPts val="200"/>
              </a:spcAft>
            </a:pPr>
            <a:r>
              <a:rPr lang="en-US" sz="1400" dirty="0"/>
              <a:t>collecting richer financial data would improve prediction quality, but raises privacy, legal and fairness concerns.</a:t>
            </a:r>
            <a:endParaRPr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4D675-38F4-1062-A0F4-F683C825C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F9AA4-A5FF-BC1C-9E4D-F7F9CF6B2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508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63A40-A220-5004-7B97-603C5772B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200"/>
              </a:spcAft>
            </a:pPr>
            <a:r>
              <a:rPr lang="pt-PT" sz="2500" dirty="0"/>
              <a:t>E</a:t>
            </a:r>
            <a:r>
              <a:rPr sz="2500" dirty="0" err="1"/>
              <a:t>thical</a:t>
            </a:r>
            <a:r>
              <a:rPr sz="2500" dirty="0"/>
              <a:t> </a:t>
            </a:r>
            <a:r>
              <a:rPr lang="pt-PT" sz="2500" dirty="0"/>
              <a:t>R</a:t>
            </a:r>
            <a:r>
              <a:rPr sz="2500" dirty="0" err="1"/>
              <a:t>isks</a:t>
            </a:r>
            <a:endParaRPr sz="2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6F44C-762F-7C16-EEC5-07FBD4AB9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pPr>
              <a:spcAft>
                <a:spcPts val="200"/>
              </a:spcAft>
            </a:pPr>
            <a:r>
              <a:rPr lang="en-US" sz="1600" dirty="0"/>
              <a:t>A credit-risk model can make decisions more consistent, but it can also reinforce unfair patterns if used without oversight.</a:t>
            </a:r>
          </a:p>
          <a:p>
            <a:pPr>
              <a:spcAft>
                <a:spcPts val="200"/>
              </a:spcAft>
            </a:pPr>
            <a:endParaRPr lang="en-US" sz="1600" dirty="0"/>
          </a:p>
          <a:p>
            <a:pPr>
              <a:spcAft>
                <a:spcPts val="200"/>
              </a:spcAft>
            </a:pPr>
            <a:r>
              <a:rPr lang="en-US" sz="1600" dirty="0"/>
              <a:t>Key risks:</a:t>
            </a:r>
          </a:p>
          <a:p>
            <a:pPr lvl="1">
              <a:spcAft>
                <a:spcPts val="200"/>
              </a:spcAft>
            </a:pPr>
            <a:r>
              <a:rPr lang="en-US" sz="1400" dirty="0"/>
              <a:t>historical bias in training data</a:t>
            </a:r>
          </a:p>
          <a:p>
            <a:pPr lvl="1">
              <a:spcAft>
                <a:spcPts val="200"/>
              </a:spcAft>
            </a:pPr>
            <a:r>
              <a:rPr lang="en-US" sz="1400" dirty="0"/>
              <a:t>indirect discrimination through correlated variables</a:t>
            </a:r>
          </a:p>
          <a:p>
            <a:pPr lvl="1">
              <a:spcAft>
                <a:spcPts val="200"/>
              </a:spcAft>
            </a:pPr>
            <a:r>
              <a:rPr lang="en-US" sz="1400" dirty="0"/>
              <a:t>low transparency in automated risk scores</a:t>
            </a:r>
          </a:p>
          <a:p>
            <a:pPr lvl="1">
              <a:spcAft>
                <a:spcPts val="200"/>
              </a:spcAft>
            </a:pPr>
            <a:r>
              <a:rPr lang="en-US" sz="1400" dirty="0"/>
              <a:t>privacy concerns with financial data</a:t>
            </a:r>
          </a:p>
          <a:p>
            <a:pPr lvl="1">
              <a:spcAft>
                <a:spcPts val="200"/>
              </a:spcAft>
            </a:pPr>
            <a:r>
              <a:rPr lang="en-US" sz="1400" dirty="0"/>
              <a:t>overreliance on model recommendations</a:t>
            </a:r>
          </a:p>
          <a:p>
            <a:pPr>
              <a:spcAft>
                <a:spcPts val="200"/>
              </a:spcAft>
            </a:pPr>
            <a:endParaRPr lang="en-US" sz="1400" dirty="0"/>
          </a:p>
          <a:p>
            <a:pPr>
              <a:spcAft>
                <a:spcPts val="200"/>
              </a:spcAft>
            </a:pPr>
            <a:r>
              <a:rPr lang="en-US" sz="1600" dirty="0"/>
              <a:t>Mitigation:</a:t>
            </a:r>
          </a:p>
          <a:p>
            <a:pPr lvl="1">
              <a:spcAft>
                <a:spcPts val="200"/>
              </a:spcAft>
            </a:pPr>
            <a:r>
              <a:rPr lang="en-US" sz="1400" dirty="0"/>
              <a:t>human-in-the-loop decision process</a:t>
            </a:r>
          </a:p>
          <a:p>
            <a:pPr lvl="1">
              <a:spcAft>
                <a:spcPts val="200"/>
              </a:spcAft>
            </a:pPr>
            <a:r>
              <a:rPr lang="en-US" sz="1400" dirty="0"/>
              <a:t>fairness and performance monitoring</a:t>
            </a:r>
          </a:p>
          <a:p>
            <a:pPr lvl="1">
              <a:spcAft>
                <a:spcPts val="200"/>
              </a:spcAft>
            </a:pPr>
            <a:r>
              <a:rPr lang="en-US" sz="1400" dirty="0"/>
              <a:t>explainable predictions</a:t>
            </a:r>
          </a:p>
          <a:p>
            <a:pPr lvl="1">
              <a:spcAft>
                <a:spcPts val="200"/>
              </a:spcAft>
            </a:pPr>
            <a:r>
              <a:rPr lang="en-US" sz="1400" dirty="0"/>
              <a:t>regular model validation</a:t>
            </a:r>
          </a:p>
          <a:p>
            <a:pPr lvl="1">
              <a:spcAft>
                <a:spcPts val="200"/>
              </a:spcAft>
            </a:pPr>
            <a:r>
              <a:rPr lang="en-US" sz="1400" dirty="0"/>
              <a:t>manual review for rejected or borderline cases</a:t>
            </a:r>
            <a:endParaRPr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8AB8E-B472-EE14-5613-838060115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32F18-BCD7-598E-0909-B8CFF27DA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229600"/>
      </p:ext>
    </p:extLst>
  </p:cSld>
  <p:clrMapOvr>
    <a:masterClrMapping/>
  </p:clrMapOvr>
</p:sld>
</file>

<file path=ppt/theme/theme1.xml><?xml version="1.0" encoding="utf-8"?>
<a:theme xmlns:a="http://schemas.openxmlformats.org/drawingml/2006/main" name="FEUP - aula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FEUP - aulas.potx</Template>
  <TotalTime>9910</TotalTime>
  <Words>1087</Words>
  <Application>Microsoft Office PowerPoint</Application>
  <PresentationFormat>On-screen Show (4:3)</PresentationFormat>
  <Paragraphs>186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Noto Sans Symbols</vt:lpstr>
      <vt:lpstr>Verdana</vt:lpstr>
      <vt:lpstr>FEUP - aulas</vt:lpstr>
      <vt:lpstr>Credit Risk Prediction Machine Learning model for loan default risk assessment  Project 2 · IART · L.EIC · 2025/2026</vt:lpstr>
      <vt:lpstr>Customer</vt:lpstr>
      <vt:lpstr>Problem</vt:lpstr>
      <vt:lpstr>Available Data</vt:lpstr>
      <vt:lpstr>Solution Overview</vt:lpstr>
      <vt:lpstr>Predictive Model</vt:lpstr>
      <vt:lpstr>Empirical Study: Setup</vt:lpstr>
      <vt:lpstr>Empirical Study: Results</vt:lpstr>
      <vt:lpstr>Stakeholders</vt:lpstr>
      <vt:lpstr>Expected challenges during development and deployment</vt:lpstr>
      <vt:lpstr>Unavailable Data</vt:lpstr>
      <vt:lpstr>Ethical Risks</vt:lpstr>
    </vt:vector>
  </TitlesOfParts>
  <Company>Universidade do Porto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Carlos Soares</dc:creator>
  <cp:lastModifiedBy>João Sousa</cp:lastModifiedBy>
  <cp:revision>274</cp:revision>
  <cp:lastPrinted>2025-12-10T00:32:54Z</cp:lastPrinted>
  <dcterms:created xsi:type="dcterms:W3CDTF">2012-09-12T17:30:14Z</dcterms:created>
  <dcterms:modified xsi:type="dcterms:W3CDTF">2026-05-20T15:42:45Z</dcterms:modified>
</cp:coreProperties>
</file>